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b27c6f1c-9f0e-c862-0710-f4f16762b9b5}">
          <p14:sldIdLst>
            <p14:sldId id="256"/>
            <p14:sldId id="257"/>
          </p14:sldIdLst>
        </p14:section>
        <p14:section name="요구사항" id="{1d4d29fc-7572-67c1-2131-b8380501e7d9}">
          <p14:sldIdLst>
            <p14:sldId id="258"/>
            <p14:sldId id="259"/>
          </p14:sldIdLst>
        </p14:section>
        <p14:section name="주요 기능" id="{eb8f704d-c919-4d1c-4384-6e17682a4348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설계 · 마무리" id="{7a186684-0023-438f-1dc7-c78013a7a2fe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EnjoyTrip EV 는 전기차 운전자를 위한 드라이브 여행 플래너입니다. 관광지를 고르면 동선에 맞춰 충전소까지 함께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관광지와 충전 정보를 하나의 흐름으로 묶은 것이 핵심입니다. 외부 API 5개(관광공사, 카카오맵, 카카오모빌리티, 한국환경공단 충전소, Open-Meteo)를 실제로 연동했습니다.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 의 필수·추가·심화와 기타 항목을 모두 구현했고, F106 뉴스 크롤링만 서버가 필요해 백엔드 단계로 미뤘습니다.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페이지마다 HTML 파일이 따로 있는 멀티 페이지 구조이고, 공통 로직은 core 모듈로 나눴습니다. 키가 없거나 API 가 실패하면 더미 데이터로 자동 전환됩니다.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시도와 구군을 고르고 유형 칩을 누르면 목록과 카카오 지도 마커가 함께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상세 패널 하나에서 소개, 날씨, 사진, 충전소를 모두 확인하고 바로 계획에 담을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순서를 끌어서 바꾸면 경로와 거리가 다시 계산됩니다. 키보드(Alt+↑/↓)로도 바꿀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선배 기수 영상의 방문 인증 아이디어를 서버 없이 프론트에서 구현했습니다.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게시글 제목·본문에 스크립트를 넣어도 글자로만 보이도록 모든 출력에 escape 또는 textContent 를 사용했습니다.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 참고자료의 Chart.js 를 활용해 저장한 계획을 시각화했습니다.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디자인 스타일 후보 4개 중 '지도 중심 앱형'을 골랐고, Figma 에서 토큰과 컴포넌트를 먼저 만든 뒤 화면을 조합했습니다. 폰트는 Figma 와 맞추려고 Noto Sans KR 로 통일했습니다.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페이지를 375px 모바일 폭에서 확인했고, 마우스 없이도 핵심 기능을 쓸 수 있게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API 를 붙이면서 만난 문제들입니다. 특히 2026년 법정동 코드 개편은 더미 데이터만 썼다면 몰랐을 문제였습니다.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강사님 말씀대로 AI 를 단계별 역할로 나눠 썼고, 제안을 그대로 받지 않고 검증한 과정을 커밋 메시지에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지도·여행 데이터 흐름과 회원·커뮤니티·사용자 콘텐츠로 나눴습니다.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영상과 소스 코드, Figma 설계 링크입니다.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1FA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EnjoyTrip EV · SSAFY 16기 광주 3반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63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SSAFY 16기 광주 3반 · 관통 프로젝트 3회차 (Web Front)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⚡ Enjoy</a:t>
            </a:r>
            <a:pPr algn="l" indent="0" marL="0">
              <a:buNone/>
            </a:pPr>
            <a:r>
              <a:rPr lang="en-US" sz="5400" b="1" dirty="0">
                <a:solidFill>
                  <a:srgbClr val="34D399"/>
                </a:solidFill>
              </a:rPr>
              <a:t>Trip EV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4290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1FAE5"/>
                </a:solidFill>
              </a:rPr>
              <a:t>충전 걱정 없는 전기차 드라이브 여행 플래너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CA3AF"/>
                </a:solidFill>
              </a:rPr>
              <a:t>김진영 · 강상민  |  2026.10.02</a:t>
            </a:r>
            <a:endParaRPr lang="en-US" sz="2000" dirty="0"/>
          </a:p>
        </p:txBody>
      </p:sp>
      <p:sp>
        <p:nvSpPr>
          <p:cNvPr id="5" name="여행 계획 화면 frame"/>
          <p:cNvSpPr/>
          <p:nvPr/>
        </p:nvSpPr>
        <p:spPr>
          <a:xfrm>
            <a:off x="7498080" y="1737360"/>
            <a:ext cx="4206240" cy="26289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6" name="여행 계획 화면" descr="여행 계획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3736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전기차 여행 플래너인가</a:t>
            </a:r>
            <a:endParaRPr lang="en-US" sz="3000" dirty="0"/>
          </a:p>
        </p:txBody>
      </p:sp>
      <p:sp>
        <p:nvSpPr>
          <p:cNvPr id="3" name="문제 card"/>
          <p:cNvSpPr/>
          <p:nvPr/>
        </p:nvSpPr>
        <p:spPr>
          <a:xfrm>
            <a:off x="548640" y="132588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/>
        </p:spPr>
      </p:sp>
      <p:sp>
        <p:nvSpPr>
          <p:cNvPr id="4" name="문제 head"/>
          <p:cNvSpPr txBox="1"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</a:rPr>
              <a:t>문제</a:t>
            </a:r>
            <a:endParaRPr lang="en-US" sz="2000" dirty="0"/>
          </a:p>
        </p:txBody>
      </p:sp>
      <p:sp>
        <p:nvSpPr>
          <p:cNvPr id="5" name="문제 body"/>
          <p:cNvSpPr txBox="1"/>
          <p:nvPr/>
        </p:nvSpPr>
        <p:spPr>
          <a:xfrm>
            <a:off x="868680" y="20574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여행지를 고른 뒤 충전소는 다른 앱에서 따로 찾아야 한다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 정보·날씨·충전 정보가 흩어져 있다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이동 거리가 주행가능거리를 넘는지 직접 계산해야 한다</a:t>
            </a:r>
            <a:endParaRPr lang="en-US" sz="1500" dirty="0"/>
          </a:p>
        </p:txBody>
      </p:sp>
      <p:sp>
        <p:nvSpPr>
          <p:cNvPr id="6" name="해결 card"/>
          <p:cNvSpPr/>
          <p:nvPr/>
        </p:nvSpPr>
        <p:spPr>
          <a:xfrm>
            <a:off x="6263640" y="132588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D1FAE5"/>
          </a:solidFill>
          <a:ln/>
        </p:spPr>
      </p:sp>
      <p:sp>
        <p:nvSpPr>
          <p:cNvPr id="7" name="해결 head"/>
          <p:cNvSpPr txBox="1"/>
          <p:nvPr/>
        </p:nvSpPr>
        <p:spPr>
          <a:xfrm>
            <a:off x="65836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4E3B"/>
                </a:solidFill>
              </a:rPr>
              <a:t>해결</a:t>
            </a:r>
            <a:endParaRPr lang="en-US" sz="2000" dirty="0"/>
          </a:p>
        </p:txBody>
      </p:sp>
      <p:sp>
        <p:nvSpPr>
          <p:cNvPr id="8" name="해결 body"/>
          <p:cNvSpPr txBox="1"/>
          <p:nvPr/>
        </p:nvSpPr>
        <p:spPr>
          <a:xfrm>
            <a:off x="6583680" y="20574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→ 여행 계획 → 경로 위 충전소를 한 흐름으로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정류지마다 1km 안의 충전소·충전기 상태를 실시간 표시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주행가능거리 70% 전에 충전할 지점을 추천</a:t>
            </a:r>
            <a:endParaRPr lang="en-US" sz="1500" dirty="0"/>
          </a:p>
        </p:txBody>
      </p:sp>
      <p:sp>
        <p:nvSpPr>
          <p:cNvPr id="9" name="stat 외부 API 실연동"/>
          <p:cNvSpPr txBox="1"/>
          <p:nvPr/>
        </p:nvSpPr>
        <p:spPr>
          <a:xfrm>
            <a:off x="548640" y="4251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10" name="stat label 외부 API 실연동"/>
          <p:cNvSpPr txBox="1"/>
          <p:nvPr/>
        </p:nvSpPr>
        <p:spPr>
          <a:xfrm>
            <a:off x="54864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외부 API 실연동</a:t>
            </a:r>
            <a:endParaRPr lang="en-US" sz="1400" dirty="0"/>
          </a:p>
        </p:txBody>
      </p:sp>
      <p:sp>
        <p:nvSpPr>
          <p:cNvPr id="11" name="stat 페이지 (멀티 페이지)"/>
          <p:cNvSpPr txBox="1"/>
          <p:nvPr/>
        </p:nvSpPr>
        <p:spPr>
          <a:xfrm>
            <a:off x="4297680" y="4251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</a:t>
            </a:r>
            <a:endParaRPr lang="en-US" sz="5400" dirty="0"/>
          </a:p>
        </p:txBody>
      </p:sp>
      <p:sp>
        <p:nvSpPr>
          <p:cNvPr id="12" name="stat label 페이지 (멀티 페이지)"/>
          <p:cNvSpPr txBox="1"/>
          <p:nvPr/>
        </p:nvSpPr>
        <p:spPr>
          <a:xfrm>
            <a:off x="429768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페이지 (멀티 페이지)</a:t>
            </a:r>
            <a:endParaRPr lang="en-US" sz="1400" dirty="0"/>
          </a:p>
        </p:txBody>
      </p:sp>
      <p:sp>
        <p:nvSpPr>
          <p:cNvPr id="13" name="stat 요구사항 구현 (F101~F115)"/>
          <p:cNvSpPr txBox="1"/>
          <p:nvPr/>
        </p:nvSpPr>
        <p:spPr>
          <a:xfrm>
            <a:off x="8046720" y="4251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14 / 15</a:t>
            </a:r>
            <a:endParaRPr lang="en-US" sz="5400" dirty="0"/>
          </a:p>
        </p:txBody>
      </p:sp>
      <p:sp>
        <p:nvSpPr>
          <p:cNvPr id="14" name="stat label 요구사항 구현 (F101~F115)"/>
          <p:cNvSpPr txBox="1"/>
          <p:nvPr/>
        </p:nvSpPr>
        <p:spPr>
          <a:xfrm>
            <a:off x="804672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요구사항 구현 (F101~F115)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요구사항 구현 현황</a:t>
            </a:r>
            <a:endParaRPr lang="en-US" sz="3000" dirty="0"/>
          </a:p>
        </p:txBody>
      </p:sp>
      <p:graphicFrame>
        <p:nvGraphicFramePr>
          <p:cNvPr id="4" name="requir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498080"/>
                <a:gridCol w="100584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번호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상태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F101~F103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지역·유형별 관광지 조회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회원가입·조회·수정·탈퇴 + 여행 통계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로그인·로그아웃·비밀번호 찾기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여행 계획 (드래그 앤 드롭, 경비·충전비, 도로 경로, MD 내보내기)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핫플레이스 등록 (사진 GPS 방문 인증)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F109·F110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공지사항·자유게시판 CRUD, 검색, 페이지네이션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심화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F111~F113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관광지 날씨·추천 사진·일출일몰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전기차 충전소 실시간 (팀 핵심 기능)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개발자 소개 페이지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F106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</a:rPr>
                        <a:t>뉴스 크롤링 → 서버·DB 가 필요해 백엔드 단계로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심화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req note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전체 명세: docs/requirements.md (비기능 NF101~NF107 포함)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기술 스택과 구조</a:t>
            </a:r>
            <a:endParaRPr lang="en-US" sz="3000" dirty="0"/>
          </a:p>
        </p:txBody>
      </p:sp>
      <p:sp>
        <p:nvSpPr>
          <p:cNvPr id="3" name="화면 (HTML 12개) column"/>
          <p:cNvSpPr/>
          <p:nvPr/>
        </p:nvSpPr>
        <p:spPr>
          <a:xfrm>
            <a:off x="548640" y="132588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1F5F3"/>
          </a:solidFill>
          <a:ln/>
        </p:spPr>
      </p:sp>
      <p:sp>
        <p:nvSpPr>
          <p:cNvPr id="4" name="화면 (HTML 12개) title"/>
          <p:cNvSpPr txBox="1"/>
          <p:nvPr/>
        </p:nvSpPr>
        <p:spPr>
          <a:xfrm>
            <a:off x="8229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</a:rPr>
              <a:t>화면 (HTML 12개)</a:t>
            </a:r>
            <a:endParaRPr lang="en-US" sz="1800" dirty="0"/>
          </a:p>
        </p:txBody>
      </p:sp>
      <p:sp>
        <p:nvSpPr>
          <p:cNvPr id="5" name="화면 (HTML 12개) items"/>
          <p:cNvSpPr txBox="1"/>
          <p:nvPr/>
        </p:nvSpPr>
        <p:spPr>
          <a:xfrm>
            <a:off x="822960" y="201168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index · attraction · plan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hotplace · board ×3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login · signup · mypage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find-password · developers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Bootstrap 5 반응형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Figma 디자인 토큰 → CSS 변수</a:t>
            </a:r>
            <a:endParaRPr lang="en-US" sz="1300" dirty="0"/>
          </a:p>
        </p:txBody>
      </p:sp>
      <p:sp>
        <p:nvSpPr>
          <p:cNvPr id="6" name="core 모듈 (ES Module) column"/>
          <p:cNvSpPr/>
          <p:nvPr/>
        </p:nvSpPr>
        <p:spPr>
          <a:xfrm>
            <a:off x="4434840" y="132588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1F5F3"/>
          </a:solidFill>
          <a:ln/>
        </p:spPr>
      </p:sp>
      <p:sp>
        <p:nvSpPr>
          <p:cNvPr id="7" name="core 모듈 (ES Module) title"/>
          <p:cNvSpPr txBox="1"/>
          <p:nvPr/>
        </p:nvSpPr>
        <p:spPr>
          <a:xfrm>
            <a:off x="47091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4E3B"/>
                </a:solidFill>
              </a:rPr>
              <a:t>core 모듈 (ES Module)</a:t>
            </a:r>
            <a:endParaRPr lang="en-US" sz="1800" dirty="0"/>
          </a:p>
        </p:txBody>
      </p:sp>
      <p:sp>
        <p:nvSpPr>
          <p:cNvPr id="8" name="core 모듈 (ES Module) items"/>
          <p:cNvSpPr txBox="1"/>
          <p:nvPr/>
        </p:nvSpPr>
        <p:spPr>
          <a:xfrm>
            <a:off x="4709160" y="201168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tour-api.js · 관광공사 + 더미 대체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ev-api.js · 충전소 묶기·필터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kakao.js · 지도·마커·레이어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route.js · 도로 경로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weather.js · 날씨·일출일몰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auth · storage · board · plan-store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config.js ← .env → keys.js</a:t>
            </a:r>
            <a:endParaRPr lang="en-US" sz="1300" dirty="0"/>
          </a:p>
        </p:txBody>
      </p:sp>
      <p:sp>
        <p:nvSpPr>
          <p:cNvPr id="9" name="외부 API column"/>
          <p:cNvSpPr/>
          <p:nvPr/>
        </p:nvSpPr>
        <p:spPr>
          <a:xfrm>
            <a:off x="8321040" y="132588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/>
        </p:spPr>
      </p:sp>
      <p:sp>
        <p:nvSpPr>
          <p:cNvPr id="10" name="외부 API title"/>
          <p:cNvSpPr txBox="1"/>
          <p:nvPr/>
        </p:nvSpPr>
        <p:spPr>
          <a:xfrm>
            <a:off x="85953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외부 API</a:t>
            </a:r>
            <a:endParaRPr lang="en-US" sz="1800" dirty="0"/>
          </a:p>
        </p:txBody>
      </p:sp>
      <p:sp>
        <p:nvSpPr>
          <p:cNvPr id="11" name="외부 API items"/>
          <p:cNvSpPr txBox="1"/>
          <p:nvPr/>
        </p:nvSpPr>
        <p:spPr>
          <a:xfrm>
            <a:off x="8595360" y="201168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한국관광공사 KorService2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한국환경공단 충전소 (실시간)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Kakao Maps JavaScript SDK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카카오모빌리티 길찾기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Open-Meteo 날씨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데이터 저장: localStorage</a:t>
            </a:r>
            <a:endParaRPr lang="en-US" sz="1300" dirty="0"/>
          </a:p>
        </p:txBody>
      </p:sp>
      <p:sp>
        <p:nvSpPr>
          <p:cNvPr id="12" name="arrow 1"/>
          <p:cNvSpPr/>
          <p:nvPr/>
        </p:nvSpPr>
        <p:spPr>
          <a:xfrm>
            <a:off x="4069080" y="324612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arrow 2"/>
          <p:cNvSpPr/>
          <p:nvPr/>
        </p:nvSpPr>
        <p:spPr>
          <a:xfrm>
            <a:off x="7955280" y="3246120"/>
            <a:ext cx="365760" cy="36576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stack note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백엔드 없이 HTML·CSS·JavaScript 만으로 구현 · API 키는 .env 로 분리해 커밋하지 않음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관광지 조회</a:t>
            </a:r>
            <a:endParaRPr lang="en-US" sz="3000" dirty="0"/>
          </a:p>
        </p:txBody>
      </p:sp>
      <p:sp>
        <p:nvSpPr>
          <p:cNvPr id="3" name="관광지 조회 화면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관광지 조회 화면" descr="관광지 조회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tag F101"/>
          <p:cNvSpPr/>
          <p:nvPr/>
        </p:nvSpPr>
        <p:spPr>
          <a:xfrm>
            <a:off x="7863840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" name="tag text F101"/>
          <p:cNvSpPr txBox="1"/>
          <p:nvPr/>
        </p:nvSpPr>
        <p:spPr>
          <a:xfrm>
            <a:off x="786384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F101</a:t>
            </a:r>
            <a:endParaRPr lang="en-US" sz="1100" dirty="0"/>
          </a:p>
        </p:txBody>
      </p:sp>
      <p:sp>
        <p:nvSpPr>
          <p:cNvPr id="7" name="tag F102"/>
          <p:cNvSpPr/>
          <p:nvPr/>
        </p:nvSpPr>
        <p:spPr>
          <a:xfrm>
            <a:off x="8613648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" name="tag text F102"/>
          <p:cNvSpPr txBox="1"/>
          <p:nvPr/>
        </p:nvSpPr>
        <p:spPr>
          <a:xfrm>
            <a:off x="8613648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F102</a:t>
            </a:r>
            <a:endParaRPr lang="en-US" sz="1100" dirty="0"/>
          </a:p>
        </p:txBody>
      </p:sp>
      <p:sp>
        <p:nvSpPr>
          <p:cNvPr id="9" name="tag F103"/>
          <p:cNvSpPr/>
          <p:nvPr/>
        </p:nvSpPr>
        <p:spPr>
          <a:xfrm>
            <a:off x="9363456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0" name="tag text F103"/>
          <p:cNvSpPr txBox="1"/>
          <p:nvPr/>
        </p:nvSpPr>
        <p:spPr>
          <a:xfrm>
            <a:off x="9363456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F103</a:t>
            </a:r>
            <a:endParaRPr lang="en-US" sz="1100" dirty="0"/>
          </a:p>
        </p:txBody>
      </p:sp>
      <p:sp>
        <p:nvSpPr>
          <p:cNvPr id="11" name="point 1 dot"/>
          <p:cNvSpPr/>
          <p:nvPr/>
        </p:nvSpPr>
        <p:spPr>
          <a:xfrm>
            <a:off x="7863840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oint 1 no"/>
          <p:cNvSpPr txBox="1"/>
          <p:nvPr/>
        </p:nvSpPr>
        <p:spPr>
          <a:xfrm>
            <a:off x="78638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point 1 head"/>
          <p:cNvSpPr txBox="1"/>
          <p:nvPr/>
        </p:nvSpPr>
        <p:spPr>
          <a:xfrm>
            <a:off x="841248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지역·유형별 조회</a:t>
            </a:r>
            <a:endParaRPr lang="en-US" sz="1700" dirty="0"/>
          </a:p>
        </p:txBody>
      </p:sp>
      <p:sp>
        <p:nvSpPr>
          <p:cNvPr id="14" name="point 1 desc"/>
          <p:cNvSpPr txBox="1"/>
          <p:nvPr/>
        </p:nvSpPr>
        <p:spPr>
          <a:xfrm>
            <a:off x="8412480" y="23134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법정동 시도·구군 + 관광지·숙박·음식점 등 8개 유형</a:t>
            </a:r>
            <a:endParaRPr lang="en-US" sz="1300" dirty="0"/>
          </a:p>
        </p:txBody>
      </p:sp>
      <p:sp>
        <p:nvSpPr>
          <p:cNvPr id="15" name="point 2 dot"/>
          <p:cNvSpPr/>
          <p:nvPr/>
        </p:nvSpPr>
        <p:spPr>
          <a:xfrm>
            <a:off x="78638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oint 2 no"/>
          <p:cNvSpPr txBox="1"/>
          <p:nvPr/>
        </p:nvSpPr>
        <p:spPr>
          <a:xfrm>
            <a:off x="78638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point 2 head"/>
          <p:cNvSpPr txBox="1"/>
          <p:nvPr/>
        </p:nvSpPr>
        <p:spPr>
          <a:xfrm>
            <a:off x="84124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지도와 목록 연동</a:t>
            </a:r>
            <a:endParaRPr lang="en-US" sz="1700" dirty="0"/>
          </a:p>
        </p:txBody>
      </p:sp>
      <p:sp>
        <p:nvSpPr>
          <p:cNvPr id="18" name="point 2 desc"/>
          <p:cNvSpPr txBox="1"/>
          <p:nvPr/>
        </p:nvSpPr>
        <p:spPr>
          <a:xfrm>
            <a:off x="8412480" y="3364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목록을 고르면 지도가 이동, 마커를 누르면 목록 강조</a:t>
            </a:r>
            <a:endParaRPr lang="en-US" sz="1300" dirty="0"/>
          </a:p>
        </p:txBody>
      </p:sp>
      <p:sp>
        <p:nvSpPr>
          <p:cNvPr id="19" name="point 3 dot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oint 3 no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point 3 head"/>
          <p:cNvSpPr txBox="1"/>
          <p:nvPr/>
        </p:nvSpPr>
        <p:spPr>
          <a:xfrm>
            <a:off x="841248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2026 코드 변경 대응</a:t>
            </a:r>
            <a:endParaRPr lang="en-US" sz="1700" dirty="0"/>
          </a:p>
        </p:txBody>
      </p:sp>
      <p:sp>
        <p:nvSpPr>
          <p:cNvPr id="22" name="point 3 desc"/>
          <p:cNvSpPr txBox="1"/>
          <p:nvPr/>
        </p:nvSpPr>
        <p:spPr>
          <a:xfrm>
            <a:off x="8412480" y="4416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광주·전남 → 12 전남광주통합특별시를 API 에서 받아 사용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관광지 상세</a:t>
            </a:r>
            <a:endParaRPr lang="en-US" sz="3000" dirty="0"/>
          </a:p>
        </p:txBody>
      </p:sp>
      <p:sp>
        <p:nvSpPr>
          <p:cNvPr id="3" name="관광지 상세 화면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관광지 상세 화면" descr="관광지 상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tag F111"/>
          <p:cNvSpPr/>
          <p:nvPr/>
        </p:nvSpPr>
        <p:spPr>
          <a:xfrm>
            <a:off x="7863840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" name="tag text F111"/>
          <p:cNvSpPr txBox="1"/>
          <p:nvPr/>
        </p:nvSpPr>
        <p:spPr>
          <a:xfrm>
            <a:off x="786384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F111</a:t>
            </a:r>
            <a:endParaRPr lang="en-US" sz="1100" dirty="0"/>
          </a:p>
        </p:txBody>
      </p:sp>
      <p:sp>
        <p:nvSpPr>
          <p:cNvPr id="7" name="tag F112"/>
          <p:cNvSpPr/>
          <p:nvPr/>
        </p:nvSpPr>
        <p:spPr>
          <a:xfrm>
            <a:off x="8613648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" name="tag text F112"/>
          <p:cNvSpPr txBox="1"/>
          <p:nvPr/>
        </p:nvSpPr>
        <p:spPr>
          <a:xfrm>
            <a:off x="8613648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F112</a:t>
            </a:r>
            <a:endParaRPr lang="en-US" sz="1100" dirty="0"/>
          </a:p>
        </p:txBody>
      </p:sp>
      <p:sp>
        <p:nvSpPr>
          <p:cNvPr id="9" name="tag F113"/>
          <p:cNvSpPr/>
          <p:nvPr/>
        </p:nvSpPr>
        <p:spPr>
          <a:xfrm>
            <a:off x="9363456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0" name="tag text F113"/>
          <p:cNvSpPr txBox="1"/>
          <p:nvPr/>
        </p:nvSpPr>
        <p:spPr>
          <a:xfrm>
            <a:off x="9363456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F113</a:t>
            </a:r>
            <a:endParaRPr lang="en-US" sz="1100" dirty="0"/>
          </a:p>
        </p:txBody>
      </p:sp>
      <p:sp>
        <p:nvSpPr>
          <p:cNvPr id="11" name="tag F114"/>
          <p:cNvSpPr/>
          <p:nvPr/>
        </p:nvSpPr>
        <p:spPr>
          <a:xfrm>
            <a:off x="10113264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2" name="tag text F114"/>
          <p:cNvSpPr txBox="1"/>
          <p:nvPr/>
        </p:nvSpPr>
        <p:spPr>
          <a:xfrm>
            <a:off x="10113264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F114</a:t>
            </a:r>
            <a:endParaRPr lang="en-US" sz="1100" dirty="0"/>
          </a:p>
        </p:txBody>
      </p:sp>
      <p:sp>
        <p:nvSpPr>
          <p:cNvPr id="13" name="point 1 dot"/>
          <p:cNvSpPr/>
          <p:nvPr/>
        </p:nvSpPr>
        <p:spPr>
          <a:xfrm>
            <a:off x="7863840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oint 1 no"/>
          <p:cNvSpPr txBox="1"/>
          <p:nvPr/>
        </p:nvSpPr>
        <p:spPr>
          <a:xfrm>
            <a:off x="78638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point 1 head"/>
          <p:cNvSpPr txBox="1"/>
          <p:nvPr/>
        </p:nvSpPr>
        <p:spPr>
          <a:xfrm>
            <a:off x="841248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7일 날씨 + 일출·일몰</a:t>
            </a:r>
            <a:endParaRPr lang="en-US" sz="1700" dirty="0"/>
          </a:p>
        </p:txBody>
      </p:sp>
      <p:sp>
        <p:nvSpPr>
          <p:cNvPr id="16" name="point 1 desc"/>
          <p:cNvSpPr txBox="1"/>
          <p:nvPr/>
        </p:nvSpPr>
        <p:spPr>
          <a:xfrm>
            <a:off x="8412480" y="23134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Open-Meteo 일별 예보, 오늘 일출·일몰 시각</a:t>
            </a:r>
            <a:endParaRPr lang="en-US" sz="1300" dirty="0"/>
          </a:p>
        </p:txBody>
      </p:sp>
      <p:sp>
        <p:nvSpPr>
          <p:cNvPr id="17" name="point 2 dot"/>
          <p:cNvSpPr/>
          <p:nvPr/>
        </p:nvSpPr>
        <p:spPr>
          <a:xfrm>
            <a:off x="78638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oint 2 no"/>
          <p:cNvSpPr txBox="1"/>
          <p:nvPr/>
        </p:nvSpPr>
        <p:spPr>
          <a:xfrm>
            <a:off x="78638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point 2 head"/>
          <p:cNvSpPr txBox="1"/>
          <p:nvPr/>
        </p:nvSpPr>
        <p:spPr>
          <a:xfrm>
            <a:off x="84124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관광공사 추천 사진</a:t>
            </a:r>
            <a:endParaRPr lang="en-US" sz="1700" dirty="0"/>
          </a:p>
        </p:txBody>
      </p:sp>
      <p:sp>
        <p:nvSpPr>
          <p:cNvPr id="20" name="point 2 desc"/>
          <p:cNvSpPr txBox="1"/>
          <p:nvPr/>
        </p:nvSpPr>
        <p:spPr>
          <a:xfrm>
            <a:off x="8412480" y="3364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공공누리 1·3유형만 표시하고 출처 표기</a:t>
            </a:r>
            <a:endParaRPr lang="en-US" sz="1300" dirty="0"/>
          </a:p>
        </p:txBody>
      </p:sp>
      <p:sp>
        <p:nvSpPr>
          <p:cNvPr id="21" name="point 3 dot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point 3 no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point 3 head"/>
          <p:cNvSpPr txBox="1"/>
          <p:nvPr/>
        </p:nvSpPr>
        <p:spPr>
          <a:xfrm>
            <a:off x="841248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주변 충전소 실시간</a:t>
            </a:r>
            <a:endParaRPr lang="en-US" sz="1700" dirty="0"/>
          </a:p>
        </p:txBody>
      </p:sp>
      <p:sp>
        <p:nvSpPr>
          <p:cNvPr id="24" name="point 3 desc"/>
          <p:cNvSpPr txBox="1"/>
          <p:nvPr/>
        </p:nvSpPr>
        <p:spPr>
          <a:xfrm>
            <a:off x="8412480" y="4416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반경 1km 충전소·급속기·사용 가능 대수</a:t>
            </a:r>
            <a:endParaRPr lang="en-US" sz="1300" dirty="0"/>
          </a:p>
        </p:txBody>
      </p:sp>
      <p:sp>
        <p:nvSpPr>
          <p:cNvPr id="25" name="point 4 dot"/>
          <p:cNvSpPr/>
          <p:nvPr/>
        </p:nvSpPr>
        <p:spPr>
          <a:xfrm>
            <a:off x="7863840" y="5138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point 4 no"/>
          <p:cNvSpPr txBox="1"/>
          <p:nvPr/>
        </p:nvSpPr>
        <p:spPr>
          <a:xfrm>
            <a:off x="786384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point 4 head"/>
          <p:cNvSpPr txBox="1"/>
          <p:nvPr/>
        </p:nvSpPr>
        <p:spPr>
          <a:xfrm>
            <a:off x="841248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여행 계획에 담기</a:t>
            </a:r>
            <a:endParaRPr lang="en-US" sz="1700" dirty="0"/>
          </a:p>
        </p:txBody>
      </p:sp>
      <p:sp>
        <p:nvSpPr>
          <p:cNvPr id="28" name="point 4 desc"/>
          <p:cNvSpPr txBox="1"/>
          <p:nvPr/>
        </p:nvSpPr>
        <p:spPr>
          <a:xfrm>
            <a:off x="8412480" y="5468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관광지 화면과 계획 화면이 초안을 공유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여행 계획 + 충전소</a:t>
            </a:r>
            <a:endParaRPr lang="en-US" sz="3000" dirty="0"/>
          </a:p>
        </p:txBody>
      </p:sp>
      <p:sp>
        <p:nvSpPr>
          <p:cNvPr id="3" name="여행 계획 + 충전소 화면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여행 계획 + 충전소 화면" descr="여행 계획 + 충전소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tag F104"/>
          <p:cNvSpPr/>
          <p:nvPr/>
        </p:nvSpPr>
        <p:spPr>
          <a:xfrm>
            <a:off x="7863840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" name="tag text F104"/>
          <p:cNvSpPr txBox="1"/>
          <p:nvPr/>
        </p:nvSpPr>
        <p:spPr>
          <a:xfrm>
            <a:off x="786384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F104</a:t>
            </a:r>
            <a:endParaRPr lang="en-US" sz="1100" dirty="0"/>
          </a:p>
        </p:txBody>
      </p:sp>
      <p:sp>
        <p:nvSpPr>
          <p:cNvPr id="7" name="tag F114"/>
          <p:cNvSpPr/>
          <p:nvPr/>
        </p:nvSpPr>
        <p:spPr>
          <a:xfrm>
            <a:off x="8613648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" name="tag text F114"/>
          <p:cNvSpPr txBox="1"/>
          <p:nvPr/>
        </p:nvSpPr>
        <p:spPr>
          <a:xfrm>
            <a:off x="8613648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F114</a:t>
            </a:r>
            <a:endParaRPr lang="en-US" sz="1100" dirty="0"/>
          </a:p>
        </p:txBody>
      </p:sp>
      <p:sp>
        <p:nvSpPr>
          <p:cNvPr id="9" name="point 1 dot"/>
          <p:cNvSpPr/>
          <p:nvPr/>
        </p:nvSpPr>
        <p:spPr>
          <a:xfrm>
            <a:off x="7863840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oint 1 no"/>
          <p:cNvSpPr txBox="1"/>
          <p:nvPr/>
        </p:nvSpPr>
        <p:spPr>
          <a:xfrm>
            <a:off x="78638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point 1 head"/>
          <p:cNvSpPr txBox="1"/>
          <p:nvPr/>
        </p:nvSpPr>
        <p:spPr>
          <a:xfrm>
            <a:off x="841248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실제 도로 경로</a:t>
            </a:r>
            <a:endParaRPr lang="en-US" sz="1700" dirty="0"/>
          </a:p>
        </p:txBody>
      </p:sp>
      <p:sp>
        <p:nvSpPr>
          <p:cNvPr id="12" name="point 1 desc"/>
          <p:cNvSpPr txBox="1"/>
          <p:nvPr/>
        </p:nvSpPr>
        <p:spPr>
          <a:xfrm>
            <a:off x="8412480" y="23134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카카오모빌리티 길찾기로 거리·소요 시간·경로선</a:t>
            </a:r>
            <a:endParaRPr lang="en-US" sz="1300" dirty="0"/>
          </a:p>
        </p:txBody>
      </p:sp>
      <p:sp>
        <p:nvSpPr>
          <p:cNvPr id="13" name="point 2 dot"/>
          <p:cNvSpPr/>
          <p:nvPr/>
        </p:nvSpPr>
        <p:spPr>
          <a:xfrm>
            <a:off x="78638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oint 2 no"/>
          <p:cNvSpPr txBox="1"/>
          <p:nvPr/>
        </p:nvSpPr>
        <p:spPr>
          <a:xfrm>
            <a:off x="78638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point 2 head"/>
          <p:cNvSpPr txBox="1"/>
          <p:nvPr/>
        </p:nvSpPr>
        <p:spPr>
          <a:xfrm>
            <a:off x="84124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충전 추천 지점</a:t>
            </a:r>
            <a:endParaRPr lang="en-US" sz="1700" dirty="0"/>
          </a:p>
        </p:txBody>
      </p:sp>
      <p:sp>
        <p:nvSpPr>
          <p:cNvPr id="16" name="point 2 desc"/>
          <p:cNvSpPr txBox="1"/>
          <p:nvPr/>
        </p:nvSpPr>
        <p:spPr>
          <a:xfrm>
            <a:off x="8412480" y="3364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누적 거리가 주행가능거리 70%를 넘기 전 정류지</a:t>
            </a:r>
            <a:endParaRPr lang="en-US" sz="1300" dirty="0"/>
          </a:p>
        </p:txBody>
      </p:sp>
      <p:sp>
        <p:nvSpPr>
          <p:cNvPr id="17" name="point 3 dot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oint 3 no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point 3 head"/>
          <p:cNvSpPr txBox="1"/>
          <p:nvPr/>
        </p:nvSpPr>
        <p:spPr>
          <a:xfrm>
            <a:off x="841248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경비 + 충전비 자동 계산</a:t>
            </a:r>
            <a:endParaRPr lang="en-US" sz="1700" dirty="0"/>
          </a:p>
        </p:txBody>
      </p:sp>
      <p:sp>
        <p:nvSpPr>
          <p:cNvPr id="20" name="point 3 desc"/>
          <p:cNvSpPr txBox="1"/>
          <p:nvPr/>
        </p:nvSpPr>
        <p:spPr>
          <a:xfrm>
            <a:off x="8412480" y="4416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거리 ÷ 전비 × 단가, 항목별 합계, MD 내보내기</a:t>
            </a:r>
            <a:endParaRPr lang="en-US" sz="1300" dirty="0"/>
          </a:p>
        </p:txBody>
      </p:sp>
      <p:sp>
        <p:nvSpPr>
          <p:cNvPr id="22" name="plan example"/>
          <p:cNvSpPr txBox="1"/>
          <p:nvPr/>
        </p:nvSpPr>
        <p:spPr>
          <a:xfrm>
            <a:off x="7863840" y="5212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57.1km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  ·  약 1시간 20분  ·  충전비 3,961원</a:t>
            </a:r>
            <a:endParaRPr lang="en-US" sz="1300" dirty="0"/>
          </a:p>
        </p:txBody>
      </p:sp>
      <p:sp>
        <p:nvSpPr>
          <p:cNvPr id="23" name="plan example note"/>
          <p:cNvSpPr txBox="1"/>
          <p:nvPr/>
        </p:nvSpPr>
        <p:spPr>
          <a:xfrm>
            <a:off x="7863840" y="5596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국립아시아문화전당 → 죽녹원 → 1913송정역시장 예시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핫플레이스</a:t>
            </a:r>
            <a:endParaRPr lang="en-US" sz="3000" dirty="0"/>
          </a:p>
        </p:txBody>
      </p:sp>
      <p:sp>
        <p:nvSpPr>
          <p:cNvPr id="3" name="핫플레이스 화면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핫플레이스 화면" descr="핫플레이스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tag F105"/>
          <p:cNvSpPr/>
          <p:nvPr/>
        </p:nvSpPr>
        <p:spPr>
          <a:xfrm>
            <a:off x="7863840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" name="tag text F105"/>
          <p:cNvSpPr txBox="1"/>
          <p:nvPr/>
        </p:nvSpPr>
        <p:spPr>
          <a:xfrm>
            <a:off x="786384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F105</a:t>
            </a:r>
            <a:endParaRPr lang="en-US" sz="1100" dirty="0"/>
          </a:p>
        </p:txBody>
      </p:sp>
      <p:sp>
        <p:nvSpPr>
          <p:cNvPr id="7" name="point 1 dot"/>
          <p:cNvSpPr/>
          <p:nvPr/>
        </p:nvSpPr>
        <p:spPr>
          <a:xfrm>
            <a:off x="7863840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oint 1 no"/>
          <p:cNvSpPr txBox="1"/>
          <p:nvPr/>
        </p:nvSpPr>
        <p:spPr>
          <a:xfrm>
            <a:off x="78638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oint 1 head"/>
          <p:cNvSpPr txBox="1"/>
          <p:nvPr/>
        </p:nvSpPr>
        <p:spPr>
          <a:xfrm>
            <a:off x="841248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지도 클릭·주소로 위치</a:t>
            </a:r>
            <a:endParaRPr lang="en-US" sz="1700" dirty="0"/>
          </a:p>
        </p:txBody>
      </p:sp>
      <p:sp>
        <p:nvSpPr>
          <p:cNvPr id="10" name="point 1 desc"/>
          <p:cNvSpPr txBox="1"/>
          <p:nvPr/>
        </p:nvSpPr>
        <p:spPr>
          <a:xfrm>
            <a:off x="8412480" y="23134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카카오 지오코더로 주소 ↔ 좌표 변환</a:t>
            </a:r>
            <a:endParaRPr lang="en-US" sz="1300" dirty="0"/>
          </a:p>
        </p:txBody>
      </p:sp>
      <p:sp>
        <p:nvSpPr>
          <p:cNvPr id="11" name="point 2 dot"/>
          <p:cNvSpPr/>
          <p:nvPr/>
        </p:nvSpPr>
        <p:spPr>
          <a:xfrm>
            <a:off x="78638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oint 2 no"/>
          <p:cNvSpPr txBox="1"/>
          <p:nvPr/>
        </p:nvSpPr>
        <p:spPr>
          <a:xfrm>
            <a:off x="78638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point 2 head"/>
          <p:cNvSpPr txBox="1"/>
          <p:nvPr/>
        </p:nvSpPr>
        <p:spPr>
          <a:xfrm>
            <a:off x="84124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사진 GPS 방문 인증</a:t>
            </a:r>
            <a:endParaRPr lang="en-US" sz="1700" dirty="0"/>
          </a:p>
        </p:txBody>
      </p:sp>
      <p:sp>
        <p:nvSpPr>
          <p:cNvPr id="14" name="point 2 desc"/>
          <p:cNvSpPr txBox="1"/>
          <p:nvPr/>
        </p:nvSpPr>
        <p:spPr>
          <a:xfrm>
            <a:off x="8412480" y="3364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EXIF 의 촬영 위치·날짜 자동 입력, 1km 이내면 인증</a:t>
            </a:r>
            <a:endParaRPr lang="en-US" sz="1300" dirty="0"/>
          </a:p>
        </p:txBody>
      </p:sp>
      <p:sp>
        <p:nvSpPr>
          <p:cNvPr id="15" name="point 3 dot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oint 3 no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point 3 head"/>
          <p:cNvSpPr txBox="1"/>
          <p:nvPr/>
        </p:nvSpPr>
        <p:spPr>
          <a:xfrm>
            <a:off x="841248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개인정보 보호</a:t>
            </a:r>
            <a:endParaRPr lang="en-US" sz="1700" dirty="0"/>
          </a:p>
        </p:txBody>
      </p:sp>
      <p:sp>
        <p:nvSpPr>
          <p:cNvPr id="18" name="point 3 desc"/>
          <p:cNvSpPr txBox="1"/>
          <p:nvPr/>
        </p:nvSpPr>
        <p:spPr>
          <a:xfrm>
            <a:off x="8412480" y="4416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저장하는 사진은 800px 로 줄이고 EXIF 제거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회원 · 커뮤니티</a:t>
            </a:r>
            <a:endParaRPr lang="en-US" sz="3000" dirty="0"/>
          </a:p>
        </p:txBody>
      </p:sp>
      <p:sp>
        <p:nvSpPr>
          <p:cNvPr id="3" name="회원가입 화면 frame"/>
          <p:cNvSpPr/>
          <p:nvPr/>
        </p:nvSpPr>
        <p:spPr>
          <a:xfrm>
            <a:off x="548640" y="1325880"/>
            <a:ext cx="5394960" cy="337185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회원가입 화면" descr="회원가입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371850"/>
          </a:xfrm>
          <a:prstGeom prst="rect">
            <a:avLst/>
          </a:prstGeom>
        </p:spPr>
      </p:pic>
      <p:sp>
        <p:nvSpPr>
          <p:cNvPr id="5" name="자유게시판 화면 frame"/>
          <p:cNvSpPr/>
          <p:nvPr/>
        </p:nvSpPr>
        <p:spPr>
          <a:xfrm>
            <a:off x="6217920" y="1325880"/>
            <a:ext cx="5394960" cy="337185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6" name="자유게시판 화면" descr="자유게시판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5394960" cy="3371850"/>
          </a:xfrm>
          <a:prstGeom prst="rect">
            <a:avLst/>
          </a:prstGeom>
        </p:spPr>
      </p:pic>
      <p:sp>
        <p:nvSpPr>
          <p:cNvPr id="7" name="tag F107"/>
          <p:cNvSpPr/>
          <p:nvPr/>
        </p:nvSpPr>
        <p:spPr>
          <a:xfrm>
            <a:off x="548640" y="489204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" name="tag text F107"/>
          <p:cNvSpPr txBox="1"/>
          <p:nvPr/>
        </p:nvSpPr>
        <p:spPr>
          <a:xfrm>
            <a:off x="548640" y="4892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F107</a:t>
            </a:r>
            <a:endParaRPr lang="en-US" sz="1100" dirty="0"/>
          </a:p>
        </p:txBody>
      </p:sp>
      <p:sp>
        <p:nvSpPr>
          <p:cNvPr id="9" name="tag F108"/>
          <p:cNvSpPr/>
          <p:nvPr/>
        </p:nvSpPr>
        <p:spPr>
          <a:xfrm>
            <a:off x="1298448" y="489204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0" name="tag text F108"/>
          <p:cNvSpPr txBox="1"/>
          <p:nvPr/>
        </p:nvSpPr>
        <p:spPr>
          <a:xfrm>
            <a:off x="1298448" y="4892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F108</a:t>
            </a:r>
            <a:endParaRPr lang="en-US" sz="1100" dirty="0"/>
          </a:p>
        </p:txBody>
      </p:sp>
      <p:sp>
        <p:nvSpPr>
          <p:cNvPr id="11" name="member desc"/>
          <p:cNvSpPr txBox="1"/>
          <p:nvPr/>
        </p:nvSpPr>
        <p:spPr>
          <a:xfrm>
            <a:off x="548640" y="5303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입력 즉시 유효성 검사 · 아이디 중복 확인 · 비밀번호 SHA-256 저장 · 비밀번호 찾기</a:t>
            </a:r>
            <a:endParaRPr lang="en-US" sz="1300" dirty="0"/>
          </a:p>
        </p:txBody>
      </p:sp>
      <p:sp>
        <p:nvSpPr>
          <p:cNvPr id="12" name="tag F109"/>
          <p:cNvSpPr/>
          <p:nvPr/>
        </p:nvSpPr>
        <p:spPr>
          <a:xfrm>
            <a:off x="6217920" y="489204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3" name="tag text F109"/>
          <p:cNvSpPr txBox="1"/>
          <p:nvPr/>
        </p:nvSpPr>
        <p:spPr>
          <a:xfrm>
            <a:off x="6217920" y="4892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F109</a:t>
            </a:r>
            <a:endParaRPr lang="en-US" sz="1100" dirty="0"/>
          </a:p>
        </p:txBody>
      </p:sp>
      <p:sp>
        <p:nvSpPr>
          <p:cNvPr id="14" name="tag F110"/>
          <p:cNvSpPr/>
          <p:nvPr/>
        </p:nvSpPr>
        <p:spPr>
          <a:xfrm>
            <a:off x="6967728" y="489204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15" name="tag text F110"/>
          <p:cNvSpPr txBox="1"/>
          <p:nvPr/>
        </p:nvSpPr>
        <p:spPr>
          <a:xfrm>
            <a:off x="6967728" y="48920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F110</a:t>
            </a:r>
            <a:endParaRPr lang="en-US" sz="1100" dirty="0"/>
          </a:p>
        </p:txBody>
      </p:sp>
      <p:sp>
        <p:nvSpPr>
          <p:cNvPr id="16" name="board desc"/>
          <p:cNvSpPr txBox="1"/>
          <p:nvPr/>
        </p:nvSpPr>
        <p:spPr>
          <a:xfrm>
            <a:off x="6217920" y="5303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공지(관리자)·자유게시판 CRUD · 검색 · 페이지네이션 · 작성자만 수정·삭제 · XSS 방지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마이페이지 · 여행 통계</a:t>
            </a:r>
            <a:endParaRPr lang="en-US" sz="3000" dirty="0"/>
          </a:p>
        </p:txBody>
      </p:sp>
      <p:sp>
        <p:nvSpPr>
          <p:cNvPr id="3" name="마이페이지 · 여행 통계 화면 frame"/>
          <p:cNvSpPr/>
          <p:nvPr/>
        </p:nvSpPr>
        <p:spPr>
          <a:xfrm>
            <a:off x="548640" y="1325880"/>
            <a:ext cx="6949440" cy="43434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마이페이지 · 여행 통계 화면" descr="마이페이지 · 여행 통계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4343400"/>
          </a:xfrm>
          <a:prstGeom prst="rect">
            <a:avLst/>
          </a:prstGeom>
        </p:spPr>
      </p:pic>
      <p:sp>
        <p:nvSpPr>
          <p:cNvPr id="5" name="tag F107"/>
          <p:cNvSpPr/>
          <p:nvPr/>
        </p:nvSpPr>
        <p:spPr>
          <a:xfrm>
            <a:off x="7863840" y="1325880"/>
            <a:ext cx="6400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6" name="tag text F107"/>
          <p:cNvSpPr txBox="1"/>
          <p:nvPr/>
        </p:nvSpPr>
        <p:spPr>
          <a:xfrm>
            <a:off x="786384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F107</a:t>
            </a:r>
            <a:endParaRPr lang="en-US" sz="1100" dirty="0"/>
          </a:p>
        </p:txBody>
      </p:sp>
      <p:sp>
        <p:nvSpPr>
          <p:cNvPr id="7" name="tag Chart.js"/>
          <p:cNvSpPr/>
          <p:nvPr/>
        </p:nvSpPr>
        <p:spPr>
          <a:xfrm>
            <a:off x="8613648" y="1325880"/>
            <a:ext cx="1115568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8" name="tag text Chart.js"/>
          <p:cNvSpPr txBox="1"/>
          <p:nvPr/>
        </p:nvSpPr>
        <p:spPr>
          <a:xfrm>
            <a:off x="8613648" y="132588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Chart.js</a:t>
            </a:r>
            <a:endParaRPr lang="en-US" sz="1100" dirty="0"/>
          </a:p>
        </p:txBody>
      </p:sp>
      <p:sp>
        <p:nvSpPr>
          <p:cNvPr id="9" name="point 1 dot"/>
          <p:cNvSpPr/>
          <p:nvPr/>
        </p:nvSpPr>
        <p:spPr>
          <a:xfrm>
            <a:off x="7863840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oint 1 no"/>
          <p:cNvSpPr txBox="1"/>
          <p:nvPr/>
        </p:nvSpPr>
        <p:spPr>
          <a:xfrm>
            <a:off x="78638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point 1 head"/>
          <p:cNvSpPr txBox="1"/>
          <p:nvPr/>
        </p:nvSpPr>
        <p:spPr>
          <a:xfrm>
            <a:off x="841248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저장한 계획 요약</a:t>
            </a:r>
            <a:endParaRPr lang="en-US" sz="1700" dirty="0"/>
          </a:p>
        </p:txBody>
      </p:sp>
      <p:sp>
        <p:nvSpPr>
          <p:cNvPr id="12" name="point 1 desc"/>
          <p:cNvSpPr txBox="1"/>
          <p:nvPr/>
        </p:nvSpPr>
        <p:spPr>
          <a:xfrm>
            <a:off x="8412480" y="23134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계획 수 · 담은 장소 수 · 핫플(인증) 수</a:t>
            </a:r>
            <a:endParaRPr lang="en-US" sz="1300" dirty="0"/>
          </a:p>
        </p:txBody>
      </p:sp>
      <p:sp>
        <p:nvSpPr>
          <p:cNvPr id="13" name="point 2 dot"/>
          <p:cNvSpPr/>
          <p:nvPr/>
        </p:nvSpPr>
        <p:spPr>
          <a:xfrm>
            <a:off x="78638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oint 2 no"/>
          <p:cNvSpPr txBox="1"/>
          <p:nvPr/>
        </p:nvSpPr>
        <p:spPr>
          <a:xfrm>
            <a:off x="78638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point 2 head"/>
          <p:cNvSpPr txBox="1"/>
          <p:nvPr/>
        </p:nvSpPr>
        <p:spPr>
          <a:xfrm>
            <a:off x="84124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장소 유형 · 경비 차트</a:t>
            </a:r>
            <a:endParaRPr lang="en-US" sz="1700" dirty="0"/>
          </a:p>
        </p:txBody>
      </p:sp>
      <p:sp>
        <p:nvSpPr>
          <p:cNvPr id="16" name="point 2 desc"/>
          <p:cNvSpPr txBox="1"/>
          <p:nvPr/>
        </p:nvSpPr>
        <p:spPr>
          <a:xfrm>
            <a:off x="8412480" y="33649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Chart.js 도넛·막대 (충전비 포함)</a:t>
            </a:r>
            <a:endParaRPr lang="en-US" sz="1300" dirty="0"/>
          </a:p>
        </p:txBody>
      </p:sp>
      <p:sp>
        <p:nvSpPr>
          <p:cNvPr id="17" name="point 3 dot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oint 3 no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point 3 head"/>
          <p:cNvSpPr txBox="1"/>
          <p:nvPr/>
        </p:nvSpPr>
        <p:spPr>
          <a:xfrm>
            <a:off x="841248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월별 여행 히트맵</a:t>
            </a:r>
            <a:endParaRPr lang="en-US" sz="1700" dirty="0"/>
          </a:p>
        </p:txBody>
      </p:sp>
      <p:sp>
        <p:nvSpPr>
          <p:cNvPr id="20" name="point 3 desc"/>
          <p:cNvSpPr txBox="1"/>
          <p:nvPr/>
        </p:nvSpPr>
        <p:spPr>
          <a:xfrm>
            <a:off x="8412480" y="4416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출발일 기준 12개월 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Figma 화면 설계 → 코드</a:t>
            </a:r>
            <a:endParaRPr lang="en-US" sz="3000" dirty="0"/>
          </a:p>
        </p:txBody>
      </p:sp>
      <p:sp>
        <p:nvSpPr>
          <p:cNvPr id="3" name="figma foundations frame"/>
          <p:cNvSpPr/>
          <p:nvPr/>
        </p:nvSpPr>
        <p:spPr>
          <a:xfrm>
            <a:off x="548640" y="1325880"/>
            <a:ext cx="6583680" cy="2760443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4" name="figma foundations" descr="Figma 컬러 토큰과 컴포넌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583680" cy="2760443"/>
          </a:xfrm>
          <a:prstGeom prst="rect">
            <a:avLst/>
          </a:prstGeom>
        </p:spPr>
      </p:pic>
      <p:sp>
        <p:nvSpPr>
          <p:cNvPr id="5" name="figma plan frame"/>
          <p:cNvSpPr/>
          <p:nvPr/>
        </p:nvSpPr>
        <p:spPr>
          <a:xfrm>
            <a:off x="7406640" y="1325880"/>
            <a:ext cx="4206240" cy="26289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6" name="figma plan" descr="Figma 여행 계획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25880"/>
            <a:ext cx="4206240" cy="2628900"/>
          </a:xfrm>
          <a:prstGeom prst="rect">
            <a:avLst/>
          </a:prstGeom>
        </p:spPr>
      </p:pic>
      <p:sp>
        <p:nvSpPr>
          <p:cNvPr id="7" name="point 1 dot"/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oint 1 no"/>
          <p:cNvSpPr txBox="1"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point 1 head"/>
          <p:cNvSpPr txBox="1"/>
          <p:nvPr/>
        </p:nvSpPr>
        <p:spPr>
          <a:xfrm>
            <a:off x="109728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토큰 먼저</a:t>
            </a:r>
            <a:endParaRPr lang="en-US" sz="1700" dirty="0"/>
          </a:p>
        </p:txBody>
      </p:sp>
      <p:sp>
        <p:nvSpPr>
          <p:cNvPr id="10" name="point 1 desc"/>
          <p:cNvSpPr txBox="1"/>
          <p:nvPr/>
        </p:nvSpPr>
        <p:spPr>
          <a:xfrm>
            <a:off x="1097280" y="47823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컬러 변수·텍스트 스타일을 Figma 에 정의하고 같은 이름으로 CSS 변수화</a:t>
            </a:r>
            <a:endParaRPr lang="en-US" sz="1300" dirty="0"/>
          </a:p>
        </p:txBody>
      </p:sp>
      <p:sp>
        <p:nvSpPr>
          <p:cNvPr id="11" name="point 2 dot"/>
          <p:cNvSpPr/>
          <p:nvPr/>
        </p:nvSpPr>
        <p:spPr>
          <a:xfrm>
            <a:off x="4297680" y="4453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oint 2 no"/>
          <p:cNvSpPr txBox="1"/>
          <p:nvPr/>
        </p:nvSpPr>
        <p:spPr>
          <a:xfrm>
            <a:off x="42976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point 2 head"/>
          <p:cNvSpPr txBox="1"/>
          <p:nvPr/>
        </p:nvSpPr>
        <p:spPr>
          <a:xfrm>
            <a:off x="484632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컴포넌트 재사용</a:t>
            </a:r>
            <a:endParaRPr lang="en-US" sz="1700" dirty="0"/>
          </a:p>
        </p:txBody>
      </p:sp>
      <p:sp>
        <p:nvSpPr>
          <p:cNvPr id="14" name="point 2 desc"/>
          <p:cNvSpPr txBox="1"/>
          <p:nvPr/>
        </p:nvSpPr>
        <p:spPr>
          <a:xfrm>
            <a:off x="4846320" y="47823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Button · Chip · Input · SpotItem · NavBar · 마커</a:t>
            </a:r>
            <a:endParaRPr lang="en-US" sz="1300" dirty="0"/>
          </a:p>
        </p:txBody>
      </p:sp>
      <p:sp>
        <p:nvSpPr>
          <p:cNvPr id="15" name="point 3 dot"/>
          <p:cNvSpPr/>
          <p:nvPr/>
        </p:nvSpPr>
        <p:spPr>
          <a:xfrm>
            <a:off x="8046720" y="44531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oint 3 no"/>
          <p:cNvSpPr txBox="1"/>
          <p:nvPr/>
        </p:nvSpPr>
        <p:spPr>
          <a:xfrm>
            <a:off x="804672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point 3 head"/>
          <p:cNvSpPr txBox="1"/>
          <p:nvPr/>
        </p:nvSpPr>
        <p:spPr>
          <a:xfrm>
            <a:off x="859536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화면 11개</a:t>
            </a:r>
            <a:endParaRPr lang="en-US" sz="1700" dirty="0"/>
          </a:p>
        </p:txBody>
      </p:sp>
      <p:sp>
        <p:nvSpPr>
          <p:cNvPr id="18" name="point 3 desc"/>
          <p:cNvSpPr txBox="1"/>
          <p:nvPr/>
        </p:nvSpPr>
        <p:spPr>
          <a:xfrm>
            <a:off x="8595360" y="478231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메인, 조회, 계획, 핫플, 게시판, 회원, 개발자, 모바일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반응형 · 접근성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822960" y="1234440"/>
            <a:ext cx="2651760" cy="52120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pic>
        <p:nvPicPr>
          <p:cNvPr id="4" name="mobile shot" descr="모바일 관광지 조회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371600"/>
            <a:ext cx="2377440" cy="4937760"/>
          </a:xfrm>
          <a:prstGeom prst="rect">
            <a:avLst/>
          </a:prstGeom>
        </p:spPr>
      </p:pic>
      <p:sp>
        <p:nvSpPr>
          <p:cNvPr id="5" name="point 1 dot"/>
          <p:cNvSpPr/>
          <p:nvPr/>
        </p:nvSpPr>
        <p:spPr>
          <a:xfrm>
            <a:off x="4206240" y="1435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oint 1 no"/>
          <p:cNvSpPr txBox="1"/>
          <p:nvPr/>
        </p:nvSpPr>
        <p:spPr>
          <a:xfrm>
            <a:off x="42062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point 1 head"/>
          <p:cNvSpPr txBox="1"/>
          <p:nvPr/>
        </p:nvSpPr>
        <p:spPr>
          <a:xfrm>
            <a:off x="4754880" y="13990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모바일 레이아웃</a:t>
            </a:r>
            <a:endParaRPr lang="en-US" sz="1700" dirty="0"/>
          </a:p>
        </p:txBody>
      </p:sp>
      <p:sp>
        <p:nvSpPr>
          <p:cNvPr id="8" name="point 1 desc"/>
          <p:cNvSpPr txBox="1"/>
          <p:nvPr/>
        </p:nvSpPr>
        <p:spPr>
          <a:xfrm>
            <a:off x="4754880" y="17647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991px 이하에서 지도 위 · 목록 아래, 375px 에서도 가로 스크롤 없음</a:t>
            </a:r>
            <a:endParaRPr lang="en-US" sz="1300" dirty="0"/>
          </a:p>
        </p:txBody>
      </p:sp>
      <p:sp>
        <p:nvSpPr>
          <p:cNvPr id="9" name="point 2 dot"/>
          <p:cNvSpPr/>
          <p:nvPr/>
        </p:nvSpPr>
        <p:spPr>
          <a:xfrm>
            <a:off x="4206240" y="25328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oint 2 no"/>
          <p:cNvSpPr txBox="1"/>
          <p:nvPr/>
        </p:nvSpPr>
        <p:spPr>
          <a:xfrm>
            <a:off x="42062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oint 2 head"/>
          <p:cNvSpPr txBox="1"/>
          <p:nvPr/>
        </p:nvSpPr>
        <p:spPr>
          <a:xfrm>
            <a:off x="4754880" y="2496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키보드 조작</a:t>
            </a:r>
            <a:endParaRPr lang="en-US" sz="1700" dirty="0"/>
          </a:p>
        </p:txBody>
      </p:sp>
      <p:sp>
        <p:nvSpPr>
          <p:cNvPr id="12" name="point 2 desc"/>
          <p:cNvSpPr txBox="1"/>
          <p:nvPr/>
        </p:nvSpPr>
        <p:spPr>
          <a:xfrm>
            <a:off x="4754880" y="286207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계획 순서 Alt+↑/↓, 모든 폼 라벨 · 포커스 표시</a:t>
            </a:r>
            <a:endParaRPr lang="en-US" sz="1300" dirty="0"/>
          </a:p>
        </p:txBody>
      </p:sp>
      <p:sp>
        <p:nvSpPr>
          <p:cNvPr id="13" name="point 3 dot"/>
          <p:cNvSpPr/>
          <p:nvPr/>
        </p:nvSpPr>
        <p:spPr>
          <a:xfrm>
            <a:off x="4206240" y="36301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oint 3 no"/>
          <p:cNvSpPr txBox="1"/>
          <p:nvPr/>
        </p:nvSpPr>
        <p:spPr>
          <a:xfrm>
            <a:off x="42062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oint 3 head"/>
          <p:cNvSpPr txBox="1"/>
          <p:nvPr/>
        </p:nvSpPr>
        <p:spPr>
          <a:xfrm>
            <a:off x="4754880" y="3593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스크린리더</a:t>
            </a:r>
            <a:endParaRPr lang="en-US" sz="1700" dirty="0"/>
          </a:p>
        </p:txBody>
      </p:sp>
      <p:sp>
        <p:nvSpPr>
          <p:cNvPr id="16" name="point 3 desc"/>
          <p:cNvSpPr txBox="1"/>
          <p:nvPr/>
        </p:nvSpPr>
        <p:spPr>
          <a:xfrm>
            <a:off x="4754880" y="395935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aria-live 로 검색 결과·안내 문구 읽기, 지도 마커 aria-label</a:t>
            </a:r>
            <a:endParaRPr lang="en-US" sz="1300" dirty="0"/>
          </a:p>
        </p:txBody>
      </p:sp>
      <p:sp>
        <p:nvSpPr>
          <p:cNvPr id="17" name="point 4 dot"/>
          <p:cNvSpPr/>
          <p:nvPr/>
        </p:nvSpPr>
        <p:spPr>
          <a:xfrm>
            <a:off x="4206240" y="4727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point 4 no"/>
          <p:cNvSpPr txBox="1"/>
          <p:nvPr/>
        </p:nvSpPr>
        <p:spPr>
          <a:xfrm>
            <a:off x="42062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point 4 head"/>
          <p:cNvSpPr txBox="1"/>
          <p:nvPr/>
        </p:nvSpPr>
        <p:spPr>
          <a:xfrm>
            <a:off x="4754880" y="46908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안전한 출력</a:t>
            </a:r>
            <a:endParaRPr lang="en-US" sz="1700" dirty="0"/>
          </a:p>
        </p:txBody>
      </p:sp>
      <p:sp>
        <p:nvSpPr>
          <p:cNvPr id="20" name="point 4 desc"/>
          <p:cNvSpPr txBox="1"/>
          <p:nvPr/>
        </p:nvSpPr>
        <p:spPr>
          <a:xfrm>
            <a:off x="4754880" y="505663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escapeHtml · textContent, 로그인 리다이렉트 화이트리스트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트러블슈팅</a:t>
            </a:r>
            <a:endParaRPr lang="en-US" sz="3000" dirty="0"/>
          </a:p>
        </p:txBody>
      </p:sp>
      <p:sp>
        <p:nvSpPr>
          <p:cNvPr id="3" name="case 1 card"/>
          <p:cNvSpPr/>
          <p:nvPr/>
        </p:nvSpPr>
        <p:spPr>
          <a:xfrm>
            <a:off x="54864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case 1 head"/>
          <p:cNvSpPr txBox="1"/>
          <p:nvPr/>
        </p:nvSpPr>
        <p:spPr>
          <a:xfrm>
            <a:off x="822960" y="1508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광주 지역 조회 0건</a:t>
            </a:r>
            <a:endParaRPr lang="en-US" sz="1800" dirty="0"/>
          </a:p>
        </p:txBody>
      </p:sp>
      <p:sp>
        <p:nvSpPr>
          <p:cNvPr id="5" name="case 1 body"/>
          <p:cNvSpPr txBox="1"/>
          <p:nvPr/>
        </p:nvSpPr>
        <p:spPr>
          <a:xfrm>
            <a:off x="822960" y="20116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45309"/>
                </a:solidFill>
              </a:rPr>
              <a:t>원인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법정동 코드 개편으로 광주(29)·전남(46)이 12 로 통합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해결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코드를 하드코딩하지 않고 ldongCode2 응답을 그대로 사용, 더미 데이터도 새 코드로</a:t>
            </a:r>
            <a:endParaRPr lang="en-US" sz="1300" dirty="0"/>
          </a:p>
        </p:txBody>
      </p:sp>
      <p:sp>
        <p:nvSpPr>
          <p:cNvPr id="6" name="case 2 card"/>
          <p:cNvSpPr/>
          <p:nvPr/>
        </p:nvSpPr>
        <p:spPr>
          <a:xfrm>
            <a:off x="6172200" y="13258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case 2 head"/>
          <p:cNvSpPr txBox="1"/>
          <p:nvPr/>
        </p:nvSpPr>
        <p:spPr>
          <a:xfrm>
            <a:off x="6446520" y="1508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충전소 API 403</a:t>
            </a:r>
            <a:endParaRPr lang="en-US" sz="1800" dirty="0"/>
          </a:p>
        </p:txBody>
      </p:sp>
      <p:sp>
        <p:nvSpPr>
          <p:cNvPr id="8" name="case 2 body"/>
          <p:cNvSpPr txBox="1"/>
          <p:nvPr/>
        </p:nvSpPr>
        <p:spPr>
          <a:xfrm>
            <a:off x="6446520" y="201168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45309"/>
                </a:solidFill>
              </a:rPr>
              <a:t>원인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관광공사 키와 다른 계정으로 활용 승인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해결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충전소 전용 EV_API_KEY 를 .env 에 분리 (없으면 공통 키)</a:t>
            </a:r>
            <a:endParaRPr lang="en-US" sz="1300" dirty="0"/>
          </a:p>
        </p:txBody>
      </p:sp>
      <p:sp>
        <p:nvSpPr>
          <p:cNvPr id="9" name="case 3 card"/>
          <p:cNvSpPr/>
          <p:nvPr/>
        </p:nvSpPr>
        <p:spPr>
          <a:xfrm>
            <a:off x="548640" y="3749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case 3 head"/>
          <p:cNvSpPr txBox="1"/>
          <p:nvPr/>
        </p:nvSpPr>
        <p:spPr>
          <a:xfrm>
            <a:off x="822960" y="3931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카카오맵 401</a:t>
            </a:r>
            <a:endParaRPr lang="en-US" sz="1800" dirty="0"/>
          </a:p>
        </p:txBody>
      </p:sp>
      <p:sp>
        <p:nvSpPr>
          <p:cNvPr id="11" name="case 3 body"/>
          <p:cNvSpPr txBox="1"/>
          <p:nvPr/>
        </p:nvSpPr>
        <p:spPr>
          <a:xfrm>
            <a:off x="822960" y="44348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45309"/>
                </a:solidFill>
              </a:rPr>
              <a:t>원인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domain mismatched — 실행 주소 미등록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해결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카카오 콘솔 Web 도메인에 localhost·127.0.0.1:5500 등록</a:t>
            </a:r>
            <a:endParaRPr lang="en-US" sz="1300" dirty="0"/>
          </a:p>
        </p:txBody>
      </p:sp>
      <p:sp>
        <p:nvSpPr>
          <p:cNvPr id="12" name="case 4 card"/>
          <p:cNvSpPr/>
          <p:nvPr/>
        </p:nvSpPr>
        <p:spPr>
          <a:xfrm>
            <a:off x="6172200" y="374904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case 4 head"/>
          <p:cNvSpPr txBox="1"/>
          <p:nvPr/>
        </p:nvSpPr>
        <p:spPr>
          <a:xfrm>
            <a:off x="6446520" y="3931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모듈 로딩 실패</a:t>
            </a:r>
            <a:endParaRPr lang="en-US" sz="1800" dirty="0"/>
          </a:p>
        </p:txBody>
      </p:sp>
      <p:sp>
        <p:nvSpPr>
          <p:cNvPr id="14" name="case 4 body"/>
          <p:cNvSpPr txBox="1"/>
          <p:nvPr/>
        </p:nvSpPr>
        <p:spPr>
          <a:xfrm>
            <a:off x="6446520" y="44348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45309"/>
                </a:solidFill>
              </a:rPr>
              <a:t>원인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Windows python 서버가 .js 를 text/plain 으로 응답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해결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MIME 을 지정한 개발 서버 사용 (Live Server 는 문제 없음)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를 '제3의 팀원'으로</a:t>
            </a:r>
            <a:endParaRPr lang="en-US" sz="3000" dirty="0"/>
          </a:p>
        </p:txBody>
      </p:sp>
      <p:sp>
        <p:nvSpPr>
          <p:cNvPr id="3" name="point 1 dot"/>
          <p:cNvSpPr/>
          <p:nvPr/>
        </p:nvSpPr>
        <p:spPr>
          <a:xfrm>
            <a:off x="548640" y="13898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oint 1 no"/>
          <p:cNvSpPr txBox="1"/>
          <p:nvPr/>
        </p:nvSpPr>
        <p:spPr>
          <a:xfrm>
            <a:off x="54864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point 1 head"/>
          <p:cNvSpPr txBox="1"/>
          <p:nvPr/>
        </p:nvSpPr>
        <p:spPr>
          <a:xfrm>
            <a:off x="1097280" y="13533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기획 — 비즈니스 분석가</a:t>
            </a:r>
            <a:endParaRPr lang="en-US" sz="1700" dirty="0"/>
          </a:p>
        </p:txBody>
      </p:sp>
      <p:sp>
        <p:nvSpPr>
          <p:cNvPr id="6" name="point 1 desc"/>
          <p:cNvSpPr txBox="1"/>
          <p:nvPr/>
        </p:nvSpPr>
        <p:spPr>
          <a:xfrm>
            <a:off x="1097280" y="1719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PDF 요구사항으로 컨셉 4개·디자인 스타일 4개를 제안받고 팀이 EV·지도 중심을 선택</a:t>
            </a:r>
            <a:endParaRPr lang="en-US" sz="1300" dirty="0"/>
          </a:p>
        </p:txBody>
      </p:sp>
      <p:sp>
        <p:nvSpPr>
          <p:cNvPr id="7" name="point 2 dot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oint 2 no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point 2 head"/>
          <p:cNvSpPr txBox="1"/>
          <p:nvPr/>
        </p:nvSpPr>
        <p:spPr>
          <a:xfrm>
            <a:off x="1097280" y="24963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구현 — 코드 리뷰어</a:t>
            </a:r>
            <a:endParaRPr lang="en-US" sz="1700" dirty="0"/>
          </a:p>
        </p:txBody>
      </p:sp>
      <p:sp>
        <p:nvSpPr>
          <p:cNvPr id="10" name="point 2 desc"/>
          <p:cNvSpPr txBox="1"/>
          <p:nvPr/>
        </p:nvSpPr>
        <p:spPr>
          <a:xfrm>
            <a:off x="1097280" y="2862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실습 kakao.js 의 동기 스크립트 로딩·var·좌표 미검증을 짚고 동적 로딩으로 개선</a:t>
            </a:r>
            <a:endParaRPr lang="en-US" sz="1300" dirty="0"/>
          </a:p>
        </p:txBody>
      </p:sp>
      <p:sp>
        <p:nvSpPr>
          <p:cNvPr id="11" name="point 3 dot"/>
          <p:cNvSpPr/>
          <p:nvPr/>
        </p:nvSpPr>
        <p:spPr>
          <a:xfrm>
            <a:off x="548640" y="36758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oint 3 no"/>
          <p:cNvSpPr txBox="1"/>
          <p:nvPr/>
        </p:nvSpPr>
        <p:spPr>
          <a:xfrm>
            <a:off x="548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point 3 head"/>
          <p:cNvSpPr txBox="1"/>
          <p:nvPr/>
        </p:nvSpPr>
        <p:spPr>
          <a:xfrm>
            <a:off x="1097280" y="36393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검증 — 테스트 파트너</a:t>
            </a:r>
            <a:endParaRPr lang="en-US" sz="1700" dirty="0"/>
          </a:p>
        </p:txBody>
      </p:sp>
      <p:sp>
        <p:nvSpPr>
          <p:cNvPr id="14" name="point 3 desc"/>
          <p:cNvSpPr txBox="1"/>
          <p:nvPr/>
        </p:nvSpPr>
        <p:spPr>
          <a:xfrm>
            <a:off x="1097280" y="4005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XSS 입력, 탈퇴 후 재가입 권한, exifr lite 버그를 실제로 재현하며 확인</a:t>
            </a:r>
            <a:endParaRPr lang="en-US" sz="1300" dirty="0"/>
          </a:p>
        </p:txBody>
      </p:sp>
      <p:sp>
        <p:nvSpPr>
          <p:cNvPr id="15" name="point 4 dot"/>
          <p:cNvSpPr/>
          <p:nvPr/>
        </p:nvSpPr>
        <p:spPr>
          <a:xfrm>
            <a:off x="548640" y="48188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oint 4 no"/>
          <p:cNvSpPr txBox="1"/>
          <p:nvPr/>
        </p:nvSpPr>
        <p:spPr>
          <a:xfrm>
            <a:off x="5486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point 4 head"/>
          <p:cNvSpPr txBox="1"/>
          <p:nvPr/>
        </p:nvSpPr>
        <p:spPr>
          <a:xfrm>
            <a:off x="1097280" y="47823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기록 — 커밋 메시지</a:t>
            </a:r>
            <a:endParaRPr lang="en-US" sz="1700" dirty="0"/>
          </a:p>
        </p:txBody>
      </p:sp>
      <p:sp>
        <p:nvSpPr>
          <p:cNvPr id="18" name="point 4 desc"/>
          <p:cNvSpPr txBox="1"/>
          <p:nvPr/>
        </p:nvSpPr>
        <p:spPr>
          <a:xfrm>
            <a:off x="1097280" y="5148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무엇을 AI 에 묻고 어떻게 반영했는지 커밋마다 'AI 활용' 으로 남김</a:t>
            </a:r>
            <a:endParaRPr lang="en-US" sz="1300" dirty="0"/>
          </a:p>
        </p:txBody>
      </p:sp>
      <p:sp>
        <p:nvSpPr>
          <p:cNvPr id="19" name="quote card"/>
          <p:cNvSpPr/>
          <p:nvPr/>
        </p:nvSpPr>
        <p:spPr>
          <a:xfrm>
            <a:off x="7680960" y="1371600"/>
            <a:ext cx="3931920" cy="420624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20" name="quote text"/>
          <p:cNvSpPr txBox="1"/>
          <p:nvPr/>
        </p:nvSpPr>
        <p:spPr>
          <a:xfrm>
            <a:off x="8001000" y="16459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“좋은 개발자는 AI 를 안 쓰는 사람이 아니라,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AI 를 써도 주도권을 잃지 않는 사람”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— 10/2 관통 라이브 강의 중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역할 분담</a:t>
            </a:r>
            <a:endParaRPr lang="en-US" sz="3000" dirty="0"/>
          </a:p>
        </p:txBody>
      </p:sp>
      <p:sp>
        <p:nvSpPr>
          <p:cNvPr id="3" name="김진영 card"/>
          <p:cNvSpPr/>
          <p:nvPr/>
        </p:nvSpPr>
        <p:spPr>
          <a:xfrm>
            <a:off x="548640" y="132588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sp>
        <p:nvSpPr>
          <p:cNvPr id="4" name="김진영 avatar"/>
          <p:cNvSpPr/>
          <p:nvPr/>
        </p:nvSpPr>
        <p:spPr>
          <a:xfrm>
            <a:off x="868680" y="1600200"/>
            <a:ext cx="822960" cy="8229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5" name="김진영 initial"/>
          <p:cNvSpPr txBox="1"/>
          <p:nvPr/>
        </p:nvSpPr>
        <p:spPr>
          <a:xfrm>
            <a:off x="86868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4E3B"/>
                </a:solidFill>
              </a:rPr>
              <a:t>김</a:t>
            </a:r>
            <a:endParaRPr lang="en-US" sz="2600" dirty="0"/>
          </a:p>
        </p:txBody>
      </p:sp>
      <p:sp>
        <p:nvSpPr>
          <p:cNvPr id="6" name="김진영 name"/>
          <p:cNvSpPr txBox="1"/>
          <p:nvPr/>
        </p:nvSpPr>
        <p:spPr>
          <a:xfrm>
            <a:off x="187452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김진영</a:t>
            </a:r>
            <a:endParaRPr lang="en-US" sz="2200" dirty="0"/>
          </a:p>
        </p:txBody>
      </p:sp>
      <p:sp>
        <p:nvSpPr>
          <p:cNvPr id="7" name="김진영 role"/>
          <p:cNvSpPr txBox="1"/>
          <p:nvPr/>
        </p:nvSpPr>
        <p:spPr>
          <a:xfrm>
            <a:off x="187452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팀장 · 지도·여행 데이터</a:t>
            </a:r>
            <a:endParaRPr lang="en-US" sz="1300" dirty="0"/>
          </a:p>
        </p:txBody>
      </p:sp>
      <p:sp>
        <p:nvSpPr>
          <p:cNvPr id="8" name="김진영 tasks"/>
          <p:cNvSpPr txBox="1"/>
          <p:nvPr/>
        </p:nvSpPr>
        <p:spPr>
          <a:xfrm>
            <a:off x="868680" y="27432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서비스 기획(EV 컨셉), Figma 설계·디자인 토큰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관광지 조회 (F101~F103)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여행 계획 (F104) — 경비·충전비, 도로 경로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전기차 충전소 (F114)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날씨·사진·일출일몰 (F111~F113), 키 관리</a:t>
            </a:r>
            <a:endParaRPr lang="en-US" sz="1400" dirty="0"/>
          </a:p>
        </p:txBody>
      </p:sp>
      <p:sp>
        <p:nvSpPr>
          <p:cNvPr id="9" name="강상민 card"/>
          <p:cNvSpPr/>
          <p:nvPr/>
        </p:nvSpPr>
        <p:spPr>
          <a:xfrm>
            <a:off x="6172200" y="132588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sp>
        <p:nvSpPr>
          <p:cNvPr id="10" name="강상민 avatar"/>
          <p:cNvSpPr/>
          <p:nvPr/>
        </p:nvSpPr>
        <p:spPr>
          <a:xfrm>
            <a:off x="6492240" y="1600200"/>
            <a:ext cx="822960" cy="8229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1" name="강상민 initial"/>
          <p:cNvSpPr txBox="1"/>
          <p:nvPr/>
        </p:nvSpPr>
        <p:spPr>
          <a:xfrm>
            <a:off x="64922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4E3B"/>
                </a:solidFill>
              </a:rPr>
              <a:t>강</a:t>
            </a:r>
            <a:endParaRPr lang="en-US" sz="2600" dirty="0"/>
          </a:p>
        </p:txBody>
      </p:sp>
      <p:sp>
        <p:nvSpPr>
          <p:cNvPr id="12" name="강상민 name"/>
          <p:cNvSpPr txBox="1"/>
          <p:nvPr/>
        </p:nvSpPr>
        <p:spPr>
          <a:xfrm>
            <a:off x="7498080" y="1627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강상민</a:t>
            </a:r>
            <a:endParaRPr lang="en-US" sz="2200" dirty="0"/>
          </a:p>
        </p:txBody>
      </p:sp>
      <p:sp>
        <p:nvSpPr>
          <p:cNvPr id="13" name="강상민 role"/>
          <p:cNvSpPr txBox="1"/>
          <p:nvPr/>
        </p:nvSpPr>
        <p:spPr>
          <a:xfrm>
            <a:off x="74980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회원·커뮤니티</a:t>
            </a:r>
            <a:endParaRPr lang="en-US" sz="1300" dirty="0"/>
          </a:p>
        </p:txBody>
      </p:sp>
      <p:sp>
        <p:nvSpPr>
          <p:cNvPr id="14" name="강상민 tasks"/>
          <p:cNvSpPr txBox="1"/>
          <p:nvPr/>
        </p:nvSpPr>
        <p:spPr>
          <a:xfrm>
            <a:off x="6492240" y="27432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회원가입·로그인·비밀번호 찾기 (F107·F108)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마이페이지 — 수정·탈퇴, 여행 통계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핫플레이스 (F105) — GPS 방문 인증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공지사항·자유게시판 (F109·F110)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요구사항 명세서·README·실행 화면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감사합니다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1FAE5"/>
                </a:solidFill>
              </a:rPr>
              <a:t>시연 영상 · docs/demo/enjoytrip-ev-demo.mp4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1FAE5"/>
                </a:solidFill>
              </a:rPr>
              <a:t>소스 코드 · lab.ssafy.com/kjy164777/trip_frontend_gwangju_03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1FAE5"/>
                </a:solidFill>
              </a:rPr>
              <a:t>화면 설계 · Figma「EnjoyTrip EV - 화면 설계 (광주 3반)」</a:t>
            </a:r>
            <a:endParaRPr lang="en-US" sz="2000" dirty="0"/>
          </a:p>
        </p:txBody>
      </p:sp>
      <p:sp>
        <p:nvSpPr>
          <p:cNvPr id="4" name="관광지 상세 화면 frame"/>
          <p:cNvSpPr/>
          <p:nvPr/>
        </p:nvSpPr>
        <p:spPr>
          <a:xfrm>
            <a:off x="7498080" y="1737360"/>
            <a:ext cx="4206240" cy="2628900"/>
          </a:xfrm>
          <a:prstGeom prst="rect">
            <a:avLst/>
          </a:prstGeom>
          <a:solidFill>
            <a:schemeClr val="bg1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11827">
                <a:alpha val="18000"/>
              </a:srgbClr>
            </a:outerShdw>
          </a:effectLst>
        </p:spPr>
      </p:sp>
      <p:pic>
        <p:nvPicPr>
          <p:cNvPr id="5" name="관광지 상세 화면" descr="관광지 상세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37360"/>
            <a:ext cx="4206240" cy="2628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njoyTrip EV">
  <a:themeElements>
    <a:clrScheme name="EnjoyTrip EV">
      <a:dk1>
        <a:srgbClr val="111827"/>
      </a:dk1>
      <a:lt1>
        <a:srgbClr val="FFFFFF"/>
      </a:lt1>
      <a:dk2>
        <a:srgbClr val="064E3B"/>
      </a:dk2>
      <a:lt2>
        <a:srgbClr val="F1F5F3"/>
      </a:lt2>
      <a:accent1>
        <a:srgbClr val="047857"/>
      </a:accent1>
      <a:accent2>
        <a:srgbClr val="F59E0B"/>
      </a:accent2>
      <a:accent3>
        <a:srgbClr val="2563EB"/>
      </a:accent3>
      <a:accent4>
        <a:srgbClr val="7C3AED"/>
      </a:accent4>
      <a:accent5>
        <a:srgbClr val="DB2777"/>
      </a:accent5>
      <a:accent6>
        <a:srgbClr val="6B7280"/>
      </a:accent6>
      <a:hlink>
        <a:srgbClr val="047857"/>
      </a:hlink>
      <a:folHlink>
        <a:srgbClr val="065F46"/>
      </a:folHlink>
    </a:clrScheme>
    <a:fontScheme name="EnjoyTrip EV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EnjoyTrip EV — 관통 프로젝트 (Web Front)</dc:title>
  <dc:subject>PptxGenJS Presentation</dc:subject>
  <dc:creator>SSAFY 16기 광주 3반 김진영, 강상민</dc:creator>
  <cp:lastModifiedBy>SSAFY 16기 광주 3반 김진영, 강상민</cp:lastModifiedBy>
  <cp:revision>1</cp:revision>
  <dcterms:created xsi:type="dcterms:W3CDTF">2026-10-02T04:50:47Z</dcterms:created>
  <dcterms:modified xsi:type="dcterms:W3CDTF">2026-10-02T04:50:47Z</dcterms:modified>
</cp:coreProperties>
</file>